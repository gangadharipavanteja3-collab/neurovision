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8AA86A-B7D0-4E9C-82B2-9692227E8421}" v="6" dt="2026-10-08T08:19:24.8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69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vanteja gangadhari" userId="15a44092b0d47bd6" providerId="LiveId" clId="{844D879A-79C1-4BB6-83BB-23D2C0842DD5}"/>
    <pc:docChg chg="undo custSel modSld">
      <pc:chgData name="pavanteja gangadhari" userId="15a44092b0d47bd6" providerId="LiveId" clId="{844D879A-79C1-4BB6-83BB-23D2C0842DD5}" dt="2026-10-08T08:24:39.060" v="69" actId="255"/>
      <pc:docMkLst>
        <pc:docMk/>
      </pc:docMkLst>
      <pc:sldChg chg="addSp delSp modSp mod">
        <pc:chgData name="pavanteja gangadhari" userId="15a44092b0d47bd6" providerId="LiveId" clId="{844D879A-79C1-4BB6-83BB-23D2C0842DD5}" dt="2026-10-08T08:17:06.937" v="34" actId="20577"/>
        <pc:sldMkLst>
          <pc:docMk/>
          <pc:sldMk cId="0" sldId="257"/>
        </pc:sldMkLst>
        <pc:spChg chg="add del mod">
          <ac:chgData name="pavanteja gangadhari" userId="15a44092b0d47bd6" providerId="LiveId" clId="{844D879A-79C1-4BB6-83BB-23D2C0842DD5}" dt="2026-10-08T08:17:06.937" v="34" actId="20577"/>
          <ac:spMkLst>
            <pc:docMk/>
            <pc:sldMk cId="0" sldId="257"/>
            <ac:spMk id="5" creationId="{00000000-0000-0000-0000-000000000000}"/>
          </ac:spMkLst>
        </pc:spChg>
      </pc:sldChg>
      <pc:sldChg chg="addSp delSp modSp mod">
        <pc:chgData name="pavanteja gangadhari" userId="15a44092b0d47bd6" providerId="LiveId" clId="{844D879A-79C1-4BB6-83BB-23D2C0842DD5}" dt="2026-10-08T08:17:06.610" v="32" actId="20577"/>
        <pc:sldMkLst>
          <pc:docMk/>
          <pc:sldMk cId="0" sldId="258"/>
        </pc:sldMkLst>
        <pc:spChg chg="add del mod">
          <ac:chgData name="pavanteja gangadhari" userId="15a44092b0d47bd6" providerId="LiveId" clId="{844D879A-79C1-4BB6-83BB-23D2C0842DD5}" dt="2026-10-08T08:17:06.610" v="32" actId="20577"/>
          <ac:spMkLst>
            <pc:docMk/>
            <pc:sldMk cId="0" sldId="258"/>
            <ac:spMk id="5" creationId="{00000000-0000-0000-0000-000000000000}"/>
          </ac:spMkLst>
        </pc:spChg>
      </pc:sldChg>
      <pc:sldChg chg="addSp delSp modSp mod">
        <pc:chgData name="pavanteja gangadhari" userId="15a44092b0d47bd6" providerId="LiveId" clId="{844D879A-79C1-4BB6-83BB-23D2C0842DD5}" dt="2026-10-08T08:17:06.257" v="30" actId="20577"/>
        <pc:sldMkLst>
          <pc:docMk/>
          <pc:sldMk cId="0" sldId="259"/>
        </pc:sldMkLst>
        <pc:spChg chg="add del mod">
          <ac:chgData name="pavanteja gangadhari" userId="15a44092b0d47bd6" providerId="LiveId" clId="{844D879A-79C1-4BB6-83BB-23D2C0842DD5}" dt="2026-10-08T08:17:06.257" v="30" actId="20577"/>
          <ac:spMkLst>
            <pc:docMk/>
            <pc:sldMk cId="0" sldId="259"/>
            <ac:spMk id="5" creationId="{00000000-0000-0000-0000-000000000000}"/>
          </ac:spMkLst>
        </pc:spChg>
      </pc:sldChg>
      <pc:sldChg chg="addSp delSp modSp mod">
        <pc:chgData name="pavanteja gangadhari" userId="15a44092b0d47bd6" providerId="LiveId" clId="{844D879A-79C1-4BB6-83BB-23D2C0842DD5}" dt="2026-10-08T08:17:05.849" v="28" actId="20577"/>
        <pc:sldMkLst>
          <pc:docMk/>
          <pc:sldMk cId="0" sldId="260"/>
        </pc:sldMkLst>
        <pc:spChg chg="add del mod">
          <ac:chgData name="pavanteja gangadhari" userId="15a44092b0d47bd6" providerId="LiveId" clId="{844D879A-79C1-4BB6-83BB-23D2C0842DD5}" dt="2026-10-08T08:17:05.849" v="28" actId="20577"/>
          <ac:spMkLst>
            <pc:docMk/>
            <pc:sldMk cId="0" sldId="260"/>
            <ac:spMk id="5" creationId="{00000000-0000-0000-0000-000000000000}"/>
          </ac:spMkLst>
        </pc:spChg>
      </pc:sldChg>
      <pc:sldChg chg="addSp delSp modSp mod">
        <pc:chgData name="pavanteja gangadhari" userId="15a44092b0d47bd6" providerId="LiveId" clId="{844D879A-79C1-4BB6-83BB-23D2C0842DD5}" dt="2026-10-08T08:24:39.060" v="69" actId="255"/>
        <pc:sldMkLst>
          <pc:docMk/>
          <pc:sldMk cId="0" sldId="261"/>
        </pc:sldMkLst>
        <pc:spChg chg="add del mod">
          <ac:chgData name="pavanteja gangadhari" userId="15a44092b0d47bd6" providerId="LiveId" clId="{844D879A-79C1-4BB6-83BB-23D2C0842DD5}" dt="2026-10-08T08:18:17.228" v="38"/>
          <ac:spMkLst>
            <pc:docMk/>
            <pc:sldMk cId="0" sldId="261"/>
            <ac:spMk id="4" creationId="{BFD67B5B-B278-8F1D-183D-49B8D4E6F3B1}"/>
          </ac:spMkLst>
        </pc:spChg>
        <pc:spChg chg="add del mod">
          <ac:chgData name="pavanteja gangadhari" userId="15a44092b0d47bd6" providerId="LiveId" clId="{844D879A-79C1-4BB6-83BB-23D2C0842DD5}" dt="2026-10-08T08:18:42.350" v="41"/>
          <ac:spMkLst>
            <pc:docMk/>
            <pc:sldMk cId="0" sldId="261"/>
            <ac:spMk id="24" creationId="{68B47815-F5B8-5A82-B161-12231B3E70AC}"/>
          </ac:spMkLst>
        </pc:spChg>
        <pc:spChg chg="add del mod">
          <ac:chgData name="pavanteja gangadhari" userId="15a44092b0d47bd6" providerId="LiveId" clId="{844D879A-79C1-4BB6-83BB-23D2C0842DD5}" dt="2026-10-08T08:18:59.911" v="45"/>
          <ac:spMkLst>
            <pc:docMk/>
            <pc:sldMk cId="0" sldId="261"/>
            <ac:spMk id="25" creationId="{09476928-0F0C-0E57-7DB3-E54749499EE4}"/>
          </ac:spMkLst>
        </pc:spChg>
        <pc:spChg chg="add del mod">
          <ac:chgData name="pavanteja gangadhari" userId="15a44092b0d47bd6" providerId="LiveId" clId="{844D879A-79C1-4BB6-83BB-23D2C0842DD5}" dt="2026-10-08T08:19:09.921" v="49"/>
          <ac:spMkLst>
            <pc:docMk/>
            <pc:sldMk cId="0" sldId="261"/>
            <ac:spMk id="26" creationId="{72D2F1ED-8EE0-A23E-6513-B0F19B541187}"/>
          </ac:spMkLst>
        </pc:spChg>
        <pc:spChg chg="add del mod">
          <ac:chgData name="pavanteja gangadhari" userId="15a44092b0d47bd6" providerId="LiveId" clId="{844D879A-79C1-4BB6-83BB-23D2C0842DD5}" dt="2026-10-08T08:19:17.119" v="53"/>
          <ac:spMkLst>
            <pc:docMk/>
            <pc:sldMk cId="0" sldId="261"/>
            <ac:spMk id="27" creationId="{6BCED9B1-4E54-8921-274C-D40ABA5FD464}"/>
          </ac:spMkLst>
        </pc:spChg>
        <pc:spChg chg="add mod">
          <ac:chgData name="pavanteja gangadhari" userId="15a44092b0d47bd6" providerId="LiveId" clId="{844D879A-79C1-4BB6-83BB-23D2C0842DD5}" dt="2026-10-08T08:24:39.060" v="69" actId="255"/>
          <ac:spMkLst>
            <pc:docMk/>
            <pc:sldMk cId="0" sldId="261"/>
            <ac:spMk id="28" creationId="{08C5DA5F-44A3-72DF-66A4-D83A3B6F70FD}"/>
          </ac:spMkLst>
        </pc:spChg>
        <pc:picChg chg="mod">
          <ac:chgData name="pavanteja gangadhari" userId="15a44092b0d47bd6" providerId="LiveId" clId="{844D879A-79C1-4BB6-83BB-23D2C0842DD5}" dt="2026-10-08T08:19:08.725" v="47" actId="1076"/>
          <ac:picMkLst>
            <pc:docMk/>
            <pc:sldMk cId="0" sldId="261"/>
            <ac:picMk id="23" creationId="{770E0F3D-4FF9-8529-EC25-4D3D2AEE658F}"/>
          </ac:picMkLst>
        </pc:picChg>
      </pc:sldChg>
      <pc:sldChg chg="addSp delSp modSp mod">
        <pc:chgData name="pavanteja gangadhari" userId="15a44092b0d47bd6" providerId="LiveId" clId="{844D879A-79C1-4BB6-83BB-23D2C0842DD5}" dt="2026-10-08T08:22:35.314" v="67" actId="20577"/>
        <pc:sldMkLst>
          <pc:docMk/>
          <pc:sldMk cId="0" sldId="262"/>
        </pc:sldMkLst>
        <pc:spChg chg="add del mod">
          <ac:chgData name="pavanteja gangadhari" userId="15a44092b0d47bd6" providerId="LiveId" clId="{844D879A-79C1-4BB6-83BB-23D2C0842DD5}" dt="2026-10-08T08:22:35.314" v="67" actId="20577"/>
          <ac:spMkLst>
            <pc:docMk/>
            <pc:sldMk cId="0" sldId="262"/>
            <ac:spMk id="5" creationId="{00000000-0000-0000-0000-000000000000}"/>
          </ac:spMkLst>
        </pc:spChg>
      </pc:sldChg>
      <pc:sldChg chg="addSp delSp modSp mod">
        <pc:chgData name="pavanteja gangadhari" userId="15a44092b0d47bd6" providerId="LiveId" clId="{844D879A-79C1-4BB6-83BB-23D2C0842DD5}" dt="2026-10-08T08:22:24.911" v="64" actId="20577"/>
        <pc:sldMkLst>
          <pc:docMk/>
          <pc:sldMk cId="0" sldId="263"/>
        </pc:sldMkLst>
        <pc:spChg chg="add del mod">
          <ac:chgData name="pavanteja gangadhari" userId="15a44092b0d47bd6" providerId="LiveId" clId="{844D879A-79C1-4BB6-83BB-23D2C0842DD5}" dt="2026-10-08T08:22:24.911" v="64" actId="20577"/>
          <ac:spMkLst>
            <pc:docMk/>
            <pc:sldMk cId="0" sldId="263"/>
            <ac:spMk id="5" creationId="{00000000-0000-0000-0000-000000000000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7T10:46:38.3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7T10:46:40.2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7T10:46:40.4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7T10:46:40.5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7T10:46:40.7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7T10:46:40.9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7T10:46:41.0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7T10:46:41.2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3" Type="http://schemas.openxmlformats.org/officeDocument/2006/relationships/image" Target="../media/image3.png"/><Relationship Id="rId7" Type="http://schemas.openxmlformats.org/officeDocument/2006/relationships/customXml" Target="../ink/ink5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.xml"/><Relationship Id="rId5" Type="http://schemas.openxmlformats.org/officeDocument/2006/relationships/customXml" Target="../ink/ink3.xml"/><Relationship Id="rId10" Type="http://schemas.openxmlformats.org/officeDocument/2006/relationships/customXml" Target="../ink/ink8.xml"/><Relationship Id="rId4" Type="http://schemas.openxmlformats.org/officeDocument/2006/relationships/customXml" Target="../ink/ink2.xml"/><Relationship Id="rId9" Type="http://schemas.openxmlformats.org/officeDocument/2006/relationships/customXml" Target="../ink/ink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731520"/>
            <a:ext cx="68580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300" b="1" dirty="0">
                <a:solidFill>
                  <a:srgbClr val="FFFFFF"/>
                </a:solidFill>
                <a:latin typeface="Aptos"/>
              </a:rPr>
              <a:t>DYSLEXIA</a:t>
            </a:r>
            <a:br>
              <a:rPr dirty="0"/>
            </a:br>
            <a:r>
              <a:rPr sz="4300" b="1" dirty="0">
                <a:solidFill>
                  <a:srgbClr val="FFFFFF"/>
                </a:solidFill>
                <a:latin typeface="Aptos"/>
              </a:rPr>
              <a:t>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057400"/>
            <a:ext cx="6126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endParaRPr sz="2900" b="1" dirty="0">
              <a:solidFill>
                <a:srgbClr val="B4E1F0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2788920"/>
            <a:ext cx="62179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 dirty="0">
                <a:solidFill>
                  <a:srgbClr val="FFFFFF"/>
                </a:solidFill>
                <a:latin typeface="Aptos"/>
              </a:rPr>
              <a:t>Machine learning approach for identifying reading-pattern differences from eye-movement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80644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GROUP  G-1534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3703320"/>
            <a:ext cx="2057400" cy="7772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</a:rPr>
              <a:t>294</a:t>
            </a:r>
          </a:p>
          <a:p>
            <a:pPr algn="ctr"/>
            <a:r>
              <a:rPr sz="2300" b="1">
                <a:solidFill>
                  <a:srgbClr val="FFFFFF"/>
                </a:solidFill>
              </a:rPr>
              <a:t>participants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12680" y="3703320"/>
            <a:ext cx="1508760" cy="7772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</a:rPr>
              <a:t>12</a:t>
            </a:r>
          </a:p>
          <a:p>
            <a:pPr algn="ctr"/>
            <a:r>
              <a:rPr sz="2300" b="1">
                <a:solidFill>
                  <a:srgbClr val="FFFFFF"/>
                </a:solidFill>
              </a:rPr>
              <a:t>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5074920"/>
            <a:ext cx="3246120" cy="56692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Binary target:</a:t>
            </a:r>
            <a:br/>
            <a:r>
              <a:rPr sz="1600" b="1">
                <a:solidFill>
                  <a:srgbClr val="FFFFFF"/>
                </a:solidFill>
                <a:latin typeface="Aptos"/>
              </a:rPr>
              <a:t>Normal / Dyslexia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23155F0-E749-1A3B-D3A4-740E478C6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394571" cy="68491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8EC7131-C016-28DC-E69E-820F1421D4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70"/>
            <a:ext cx="12394571" cy="69735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01973"/>
            <a:ext cx="1069848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IN" sz="3200" b="1" dirty="0">
                <a:solidFill>
                  <a:srgbClr val="142037"/>
                </a:solidFill>
                <a:latin typeface="Aptos"/>
              </a:rPr>
              <a:t>Understanding the Base Paper</a:t>
            </a:r>
            <a:endParaRPr sz="3200" b="1" dirty="0">
              <a:solidFill>
                <a:srgbClr val="142037"/>
              </a:solidFill>
              <a:latin typeface="Apto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960120" cy="54864"/>
          </a:xfrm>
          <a:prstGeom prst="rect">
            <a:avLst/>
          </a:prstGeom>
          <a:solidFill>
            <a:srgbClr val="149696"/>
          </a:solidFill>
          <a:ln>
            <a:solidFill>
              <a:srgbClr val="14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IN" sz="1400" b="1" dirty="0">
                <a:solidFill>
                  <a:srgbClr val="149696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5501" y="1315150"/>
            <a:ext cx="5658366" cy="3100308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2237" y="1298571"/>
            <a:ext cx="70197" cy="3116887"/>
          </a:xfrm>
          <a:prstGeom prst="rect">
            <a:avLst/>
          </a:prstGeom>
          <a:solidFill>
            <a:srgbClr val="149696"/>
          </a:solidFill>
          <a:ln>
            <a:solidFill>
              <a:srgbClr val="14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6490" y="1398565"/>
            <a:ext cx="5445731" cy="44319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Aptos"/>
              </a:rPr>
              <a:t>Key Idea</a:t>
            </a:r>
            <a:endParaRPr sz="2400" b="1" dirty="0">
              <a:solidFill>
                <a:schemeClr val="tx2">
                  <a:lumMod val="50000"/>
                </a:schemeClr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6322" y="1810812"/>
            <a:ext cx="5303520" cy="2459135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32B3A"/>
                </a:solidFill>
                <a:latin typeface="Aptos"/>
              </a:defRPr>
            </a:pPr>
            <a:r>
              <a:rPr b="0" dirty="0">
                <a:solidFill>
                  <a:srgbClr val="17253F"/>
                </a:solidFill>
              </a:rPr>
              <a:t>• Reading produces measurable eye movements such as fixations, saccades and regressions.</a:t>
            </a:r>
          </a:p>
          <a:p>
            <a:pPr>
              <a:spcAft>
                <a:spcPts val="900"/>
              </a:spcAft>
              <a:defRPr sz="2000">
                <a:solidFill>
                  <a:srgbClr val="232B3A"/>
                </a:solidFill>
                <a:latin typeface="Aptos"/>
              </a:defRPr>
            </a:pPr>
            <a:r>
              <a:rPr b="0" dirty="0">
                <a:solidFill>
                  <a:srgbClr val="17253F"/>
                </a:solidFill>
              </a:rPr>
              <a:t>• These measurements can be represented as numerical features.</a:t>
            </a:r>
          </a:p>
          <a:p>
            <a:pPr>
              <a:spcAft>
                <a:spcPts val="900"/>
              </a:spcAft>
              <a:defRPr sz="2000">
                <a:solidFill>
                  <a:srgbClr val="232B3A"/>
                </a:solidFill>
                <a:latin typeface="Aptos"/>
              </a:defRPr>
            </a:pPr>
            <a:r>
              <a:rPr b="0" dirty="0">
                <a:solidFill>
                  <a:srgbClr val="17253F"/>
                </a:solidFill>
              </a:rPr>
              <a:t>• Machine learning can learn patterns that separate labelled reading groups.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0575" y="1298571"/>
            <a:ext cx="5547799" cy="3100309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</a:t>
            </a:r>
            <a:endParaRPr dirty="0"/>
          </a:p>
        </p:txBody>
      </p:sp>
      <p:sp>
        <p:nvSpPr>
          <p:cNvPr id="12" name="Rectangle 11"/>
          <p:cNvSpPr/>
          <p:nvPr/>
        </p:nvSpPr>
        <p:spPr>
          <a:xfrm>
            <a:off x="6192028" y="1314340"/>
            <a:ext cx="70198" cy="3100310"/>
          </a:xfrm>
          <a:prstGeom prst="rect">
            <a:avLst/>
          </a:prstGeom>
          <a:solidFill>
            <a:srgbClr val="2D68C4"/>
          </a:solidFill>
          <a:ln>
            <a:solidFill>
              <a:srgbClr val="2D6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5551" y="1384679"/>
            <a:ext cx="5303520" cy="44319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Aptos"/>
              </a:rPr>
              <a:t>Limitation of the Base Paper</a:t>
            </a:r>
            <a:endParaRPr sz="2400" b="1" dirty="0">
              <a:solidFill>
                <a:schemeClr val="tx2">
                  <a:lumMod val="50000"/>
                </a:schemeClr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0783" y="4269947"/>
            <a:ext cx="5248237" cy="624045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32B3A"/>
                </a:solidFill>
                <a:latin typeface="Aptos"/>
              </a:defRPr>
            </a:pPr>
            <a:endParaRPr sz="1520" b="0" dirty="0">
              <a:solidFill>
                <a:srgbClr val="17253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" y="6510528"/>
            <a:ext cx="7772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46E7D"/>
                </a:solidFill>
                <a:latin typeface="Aptos"/>
              </a:rPr>
              <a:t>Dyslexia Detection Using Eye Movements  •  G-1534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510528"/>
            <a:ext cx="12801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646E7D"/>
                </a:solidFill>
                <a:latin typeface="Aptos"/>
              </a:rPr>
              <a:t>Milestone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0CE597-1399-D539-1220-55F178E2621C}"/>
              </a:ext>
            </a:extLst>
          </p:cNvPr>
          <p:cNvSpPr txBox="1"/>
          <p:nvPr/>
        </p:nvSpPr>
        <p:spPr>
          <a:xfrm>
            <a:off x="7236542" y="2477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92BAEF-70DB-A7C9-0136-ADCA41042685}"/>
              </a:ext>
            </a:extLst>
          </p:cNvPr>
          <p:cNvSpPr txBox="1"/>
          <p:nvPr/>
        </p:nvSpPr>
        <p:spPr>
          <a:xfrm>
            <a:off x="6588350" y="1875112"/>
            <a:ext cx="481879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• The base paper mainly focuses on binary classification, identifying readers as dyslexic or non-dyslexic.</a:t>
            </a:r>
          </a:p>
          <a:p>
            <a:r>
              <a:rPr lang="en-IN" sz="2000" dirty="0"/>
              <a:t>• It does not provide a continuous risk/level measure, so the outcome is limited to a yes/no prediction.</a:t>
            </a:r>
          </a:p>
          <a:p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81117A1-A380-F6A5-D8AE-B7930FAE52A4}"/>
              </a:ext>
            </a:extLst>
          </p:cNvPr>
          <p:cNvSpPr txBox="1"/>
          <p:nvPr/>
        </p:nvSpPr>
        <p:spPr>
          <a:xfrm>
            <a:off x="9950245" y="2920181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  <a:p>
            <a:endParaRPr lang="en-IN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AB8F76E-5D85-E81E-658D-6E122DF15905}"/>
              </a:ext>
            </a:extLst>
          </p:cNvPr>
          <p:cNvSpPr/>
          <p:nvPr/>
        </p:nvSpPr>
        <p:spPr>
          <a:xfrm>
            <a:off x="524329" y="4810703"/>
            <a:ext cx="11422293" cy="1551769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IN" dirty="0"/>
              <a:t>Our project uses a </a:t>
            </a:r>
            <a:r>
              <a:rPr lang="en-IN" b="1" dirty="0"/>
              <a:t>webcam-based system</a:t>
            </a:r>
            <a:r>
              <a:rPr lang="en-IN" dirty="0"/>
              <a:t> to capture eye-movement patterns during reading. </a:t>
            </a:r>
          </a:p>
          <a:p>
            <a:pPr lvl="0"/>
            <a:r>
              <a:rPr lang="en-IN" dirty="0"/>
              <a:t>It provides both a </a:t>
            </a:r>
            <a:r>
              <a:rPr lang="en-IN" b="1" dirty="0"/>
              <a:t>dyslexia risk label and an estimated risk level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This gives a more </a:t>
            </a:r>
            <a:r>
              <a:rPr lang="en-IN" b="1" dirty="0"/>
              <a:t>detailed and informative outcome</a:t>
            </a:r>
            <a:r>
              <a:rPr lang="en-IN" dirty="0"/>
              <a:t> than binary classification alone.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72B1BF3-9478-12EB-646C-192351D6DBF7}"/>
              </a:ext>
            </a:extLst>
          </p:cNvPr>
          <p:cNvSpPr/>
          <p:nvPr/>
        </p:nvSpPr>
        <p:spPr>
          <a:xfrm>
            <a:off x="446623" y="4758814"/>
            <a:ext cx="64162" cy="1681316"/>
          </a:xfrm>
          <a:prstGeom prst="rect">
            <a:avLst/>
          </a:prstGeom>
          <a:solidFill>
            <a:srgbClr val="00B050"/>
          </a:solidFill>
          <a:ln>
            <a:solidFill>
              <a:srgbClr val="2D6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8E6C0DC-7643-B412-998D-1E30B23C570D}"/>
              </a:ext>
            </a:extLst>
          </p:cNvPr>
          <p:cNvSpPr txBox="1"/>
          <p:nvPr/>
        </p:nvSpPr>
        <p:spPr>
          <a:xfrm>
            <a:off x="746490" y="5194284"/>
            <a:ext cx="109988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2000" dirty="0">
                <a:latin typeface="Aptos" panose="020B0004020202020204" pitchFamily="34" charset="0"/>
              </a:rPr>
              <a:t>  Our project uses a </a:t>
            </a:r>
            <a:r>
              <a:rPr lang="en-IN" sz="2000" b="1" dirty="0">
                <a:latin typeface="Aptos" panose="020B0004020202020204" pitchFamily="34" charset="0"/>
              </a:rPr>
              <a:t>webcam-based system</a:t>
            </a:r>
            <a:r>
              <a:rPr lang="en-IN" sz="2000" dirty="0">
                <a:latin typeface="Aptos" panose="020B0004020202020204" pitchFamily="34" charset="0"/>
              </a:rPr>
              <a:t> to capture eye-movement patterns during reading. </a:t>
            </a:r>
          </a:p>
          <a:p>
            <a:pPr lvl="0"/>
            <a:r>
              <a:rPr lang="en-IN" sz="2000" dirty="0"/>
              <a:t>•</a:t>
            </a:r>
            <a:r>
              <a:rPr lang="en-IN" sz="2000" dirty="0">
                <a:latin typeface="Aptos" panose="020B0004020202020204" pitchFamily="34" charset="0"/>
              </a:rPr>
              <a:t> It provides both a </a:t>
            </a:r>
            <a:r>
              <a:rPr lang="en-IN" sz="2000" b="1" dirty="0">
                <a:latin typeface="Aptos" panose="020B0004020202020204" pitchFamily="34" charset="0"/>
              </a:rPr>
              <a:t>dyslexia risk label and an estimated risk level</a:t>
            </a:r>
            <a:r>
              <a:rPr lang="en-IN" sz="2000" dirty="0">
                <a:latin typeface="Aptos" panose="020B0004020202020204" pitchFamily="34" charset="0"/>
              </a:rPr>
              <a:t>. </a:t>
            </a:r>
          </a:p>
          <a:p>
            <a:pPr lvl="0"/>
            <a:r>
              <a:rPr lang="en-IN" sz="2000" dirty="0"/>
              <a:t>• </a:t>
            </a:r>
            <a:r>
              <a:rPr lang="en-IN" sz="2000" dirty="0">
                <a:latin typeface="Aptos" panose="020B0004020202020204" pitchFamily="34" charset="0"/>
              </a:rPr>
              <a:t>This gives a more </a:t>
            </a:r>
            <a:r>
              <a:rPr lang="en-IN" sz="2000" b="1" dirty="0">
                <a:latin typeface="Aptos" panose="020B0004020202020204" pitchFamily="34" charset="0"/>
              </a:rPr>
              <a:t>detailed and informative outcome</a:t>
            </a:r>
            <a:r>
              <a:rPr lang="en-IN" sz="2000" dirty="0">
                <a:latin typeface="Aptos" panose="020B0004020202020204" pitchFamily="34" charset="0"/>
              </a:rPr>
              <a:t> than binary classification alone.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715EA8-263B-9907-E3AB-5E0553578428}"/>
              </a:ext>
            </a:extLst>
          </p:cNvPr>
          <p:cNvSpPr txBox="1"/>
          <p:nvPr/>
        </p:nvSpPr>
        <p:spPr>
          <a:xfrm>
            <a:off x="732946" y="4834057"/>
            <a:ext cx="33626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Aptos" panose="020B0004020202020204" pitchFamily="34" charset="0"/>
              </a:rPr>
              <a:t>Enhancements</a:t>
            </a:r>
          </a:p>
          <a:p>
            <a:r>
              <a:rPr lang="en-IN" dirty="0"/>
              <a:t>•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3DBC1D3-1644-C51F-8DBF-A16E3B7DC602}"/>
                  </a:ext>
                </a:extLst>
              </p14:cNvPr>
              <p14:cNvContentPartPr/>
              <p14:nvPr/>
            </p14:nvContentPartPr>
            <p14:xfrm>
              <a:off x="6557961" y="2133588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3DBC1D3-1644-C51F-8DBF-A16E3B7DC60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51841" y="21274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CD50D6A-970E-29DB-9965-15F63833D55D}"/>
                  </a:ext>
                </a:extLst>
              </p14:cNvPr>
              <p14:cNvContentPartPr/>
              <p14:nvPr/>
            </p14:nvContentPartPr>
            <p14:xfrm>
              <a:off x="6567681" y="216274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CD50D6A-970E-29DB-9965-15F63833D55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61561" y="215662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E428C48F-6C1D-E98F-D14D-6A5FF695196C}"/>
                  </a:ext>
                </a:extLst>
              </p14:cNvPr>
              <p14:cNvContentPartPr/>
              <p14:nvPr/>
            </p14:nvContentPartPr>
            <p14:xfrm>
              <a:off x="6567681" y="2162748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E428C48F-6C1D-E98F-D14D-6A5FF695196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61561" y="215662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1E0FF070-745C-A224-01B2-03669A552175}"/>
                  </a:ext>
                </a:extLst>
              </p14:cNvPr>
              <p14:cNvContentPartPr/>
              <p14:nvPr/>
            </p14:nvContentPartPr>
            <p14:xfrm>
              <a:off x="6567681" y="2162748"/>
              <a:ext cx="36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1E0FF070-745C-A224-01B2-03669A55217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61561" y="215662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1FC623F5-C206-B7C4-827F-35C4284755E1}"/>
                  </a:ext>
                </a:extLst>
              </p14:cNvPr>
              <p14:cNvContentPartPr/>
              <p14:nvPr/>
            </p14:nvContentPartPr>
            <p14:xfrm>
              <a:off x="6567681" y="2162748"/>
              <a:ext cx="360" cy="3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1FC623F5-C206-B7C4-827F-35C4284755E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61561" y="215662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067C0F3D-EADD-425B-6B12-EDDF45408C60}"/>
                  </a:ext>
                </a:extLst>
              </p14:cNvPr>
              <p14:cNvContentPartPr/>
              <p14:nvPr/>
            </p14:nvContentPartPr>
            <p14:xfrm>
              <a:off x="6567681" y="2162748"/>
              <a:ext cx="36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067C0F3D-EADD-425B-6B12-EDDF45408C6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61561" y="215662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38DC9D6D-D5C7-5E31-DABF-8A28B24DA1D3}"/>
                  </a:ext>
                </a:extLst>
              </p14:cNvPr>
              <p14:cNvContentPartPr/>
              <p14:nvPr/>
            </p14:nvContentPartPr>
            <p14:xfrm>
              <a:off x="6567681" y="2162748"/>
              <a:ext cx="36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38DC9D6D-D5C7-5E31-DABF-8A28B24DA1D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61561" y="215662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885F744B-7A32-B21A-2337-98383AED4130}"/>
                  </a:ext>
                </a:extLst>
              </p14:cNvPr>
              <p14:cNvContentPartPr/>
              <p14:nvPr/>
            </p14:nvContentPartPr>
            <p14:xfrm>
              <a:off x="6567681" y="2162748"/>
              <a:ext cx="360" cy="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885F744B-7A32-B21A-2337-98383AED413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61561" y="2156628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698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142037"/>
                </a:solidFill>
                <a:latin typeface="Aptos"/>
              </a:rPr>
              <a:t>PROBLEM DEFINITION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960120" cy="54864"/>
          </a:xfrm>
          <a:prstGeom prst="rect">
            <a:avLst/>
          </a:prstGeom>
          <a:solidFill>
            <a:srgbClr val="149696"/>
          </a:solidFill>
          <a:ln>
            <a:solidFill>
              <a:srgbClr val="14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646E7D"/>
                </a:solidFill>
                <a:latin typeface="Aptos"/>
              </a:rPr>
              <a:t>What problem are we addressing?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IN" sz="1400" b="1" dirty="0">
                <a:solidFill>
                  <a:srgbClr val="149696"/>
                </a:solidFill>
                <a:latin typeface="Aptos"/>
              </a:rPr>
              <a:t>03</a:t>
            </a:r>
            <a:endParaRPr sz="1400" b="1" dirty="0">
              <a:solidFill>
                <a:srgbClr val="149696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64008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73152" cy="2286000"/>
          </a:xfrm>
          <a:prstGeom prst="rect">
            <a:avLst/>
          </a:prstGeom>
          <a:solidFill>
            <a:srgbClr val="2D68C4"/>
          </a:solidFill>
          <a:ln>
            <a:solidFill>
              <a:srgbClr val="2D6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72767"/>
            <a:ext cx="5989320" cy="34747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000" b="1" dirty="0">
                <a:solidFill>
                  <a:srgbClr val="17253F"/>
                </a:solidFill>
                <a:latin typeface="Aptos"/>
              </a:rPr>
              <a:t>Core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17275"/>
            <a:ext cx="5989320" cy="2197525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32B3A"/>
                </a:solidFill>
                <a:latin typeface="Aptos"/>
              </a:defRPr>
            </a:pPr>
            <a:r>
              <a:rPr sz="1650" b="0" dirty="0">
                <a:solidFill>
                  <a:srgbClr val="17253F"/>
                </a:solidFill>
              </a:rPr>
              <a:t>• Eye-tracking studies generate many measurements for each participant.</a:t>
            </a:r>
          </a:p>
          <a:p>
            <a:pPr>
              <a:spcAft>
                <a:spcPts val="900"/>
              </a:spcAft>
              <a:defRPr sz="2000">
                <a:solidFill>
                  <a:srgbClr val="232B3A"/>
                </a:solidFill>
                <a:latin typeface="Aptos"/>
              </a:defRPr>
            </a:pPr>
            <a:r>
              <a:rPr sz="1650" b="0" dirty="0">
                <a:solidFill>
                  <a:srgbClr val="17253F"/>
                </a:solidFill>
              </a:rPr>
              <a:t>• Manually interpreting multiple fixation, saccade and regression measures is difficult.</a:t>
            </a:r>
          </a:p>
          <a:p>
            <a:pPr>
              <a:spcAft>
                <a:spcPts val="900"/>
              </a:spcAft>
              <a:defRPr sz="2000">
                <a:solidFill>
                  <a:srgbClr val="232B3A"/>
                </a:solidFill>
                <a:latin typeface="Aptos"/>
              </a:defRPr>
            </a:pPr>
            <a:r>
              <a:rPr sz="1650" b="0" dirty="0">
                <a:solidFill>
                  <a:srgbClr val="17253F"/>
                </a:solidFill>
              </a:rPr>
              <a:t>• A machine-learning workflow can organize these measurements and identify patterns in labelled data.</a:t>
            </a:r>
            <a:endParaRPr lang="en-IN" sz="1650" b="0" dirty="0">
              <a:solidFill>
                <a:srgbClr val="17253F"/>
              </a:solidFill>
            </a:endParaRPr>
          </a:p>
          <a:p>
            <a:pPr>
              <a:spcAft>
                <a:spcPts val="900"/>
              </a:spcAft>
              <a:defRPr sz="2000">
                <a:solidFill>
                  <a:srgbClr val="232B3A"/>
                </a:solidFill>
                <a:latin typeface="Aptos"/>
              </a:defRPr>
            </a:pPr>
            <a:endParaRPr sz="1650" b="0" dirty="0">
              <a:solidFill>
                <a:srgbClr val="17253F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85800" y="4023360"/>
            <a:ext cx="6400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4023360"/>
            <a:ext cx="73152" cy="1828800"/>
          </a:xfrm>
          <a:prstGeom prst="rect">
            <a:avLst/>
          </a:prstGeom>
          <a:solidFill>
            <a:srgbClr val="149696"/>
          </a:solidFill>
          <a:ln>
            <a:solidFill>
              <a:srgbClr val="14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5989320" cy="34747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000" b="1">
                <a:solidFill>
                  <a:srgbClr val="17253F"/>
                </a:solidFill>
                <a:latin typeface="Aptos"/>
              </a:rPr>
              <a:t>Why this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35424"/>
            <a:ext cx="5989320" cy="148132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32B3A"/>
                </a:solidFill>
                <a:latin typeface="Aptos"/>
              </a:defRPr>
            </a:pPr>
            <a:r>
              <a:rPr sz="1650" b="0">
                <a:solidFill>
                  <a:srgbClr val="17253F"/>
                </a:solidFill>
              </a:rPr>
              <a:t>• Provides a quantitative way to study reading behaviour.</a:t>
            </a:r>
          </a:p>
          <a:p>
            <a:pPr>
              <a:spcAft>
                <a:spcPts val="900"/>
              </a:spcAft>
              <a:defRPr sz="2000">
                <a:solidFill>
                  <a:srgbClr val="232B3A"/>
                </a:solidFill>
                <a:latin typeface="Aptos"/>
              </a:defRPr>
            </a:pPr>
            <a:r>
              <a:rPr sz="1650" b="0">
                <a:solidFill>
                  <a:srgbClr val="17253F"/>
                </a:solidFill>
              </a:rPr>
              <a:t>• Supports consistent analysis across many participants.</a:t>
            </a:r>
          </a:p>
          <a:p>
            <a:pPr>
              <a:spcAft>
                <a:spcPts val="900"/>
              </a:spcAft>
              <a:defRPr sz="2000">
                <a:solidFill>
                  <a:srgbClr val="232B3A"/>
                </a:solidFill>
                <a:latin typeface="Aptos"/>
              </a:defRPr>
            </a:pPr>
            <a:r>
              <a:rPr sz="1650" b="0">
                <a:solidFill>
                  <a:srgbClr val="17253F"/>
                </a:solidFill>
              </a:rPr>
              <a:t>• Can act as a screening-oriented research prototype—not a clinical diagnosis.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1508760"/>
            <a:ext cx="4023360" cy="4343400"/>
          </a:xfrm>
          <a:prstGeom prst="roundRect">
            <a:avLst/>
          </a:prstGeom>
          <a:solidFill>
            <a:srgbClr val="142037"/>
          </a:solidFill>
          <a:ln>
            <a:solidFill>
              <a:srgbClr val="14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18120" y="1874519"/>
            <a:ext cx="3291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>
                <a:solidFill>
                  <a:srgbClr val="FFFFFF"/>
                </a:solidFill>
                <a:latin typeface="Aptos"/>
              </a:rPr>
              <a:t>READING</a:t>
            </a:r>
            <a:br/>
            <a:r>
              <a:rPr sz="2900" b="1">
                <a:solidFill>
                  <a:srgbClr val="FFFFFF"/>
                </a:solidFill>
                <a:latin typeface="Aptos"/>
              </a:rPr>
              <a:t>BEHAVIOUR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2788920"/>
            <a:ext cx="1325880" cy="438912"/>
          </a:xfrm>
          <a:prstGeom prst="roundRect">
            <a:avLst/>
          </a:prstGeom>
          <a:solidFill>
            <a:srgbClr val="149696"/>
          </a:solidFill>
          <a:ln>
            <a:solidFill>
              <a:srgbClr val="14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27848" y="2788920"/>
            <a:ext cx="1188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Fixation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761488"/>
            <a:ext cx="1828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Where the eyes pause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3474720"/>
            <a:ext cx="1325880" cy="438912"/>
          </a:xfrm>
          <a:prstGeom prst="roundRect">
            <a:avLst/>
          </a:prstGeom>
          <a:solidFill>
            <a:srgbClr val="149696"/>
          </a:solidFill>
          <a:ln>
            <a:solidFill>
              <a:srgbClr val="14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27848" y="3474720"/>
            <a:ext cx="1188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Saccade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447288"/>
            <a:ext cx="1828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Movement to another point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4160520"/>
            <a:ext cx="1325880" cy="438912"/>
          </a:xfrm>
          <a:prstGeom prst="roundRect">
            <a:avLst/>
          </a:prstGeom>
          <a:solidFill>
            <a:srgbClr val="149696"/>
          </a:solidFill>
          <a:ln>
            <a:solidFill>
              <a:srgbClr val="14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27848" y="4160520"/>
            <a:ext cx="1188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Regression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4133087"/>
            <a:ext cx="1828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Movement back in the text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3840" y="4846320"/>
            <a:ext cx="1325880" cy="438912"/>
          </a:xfrm>
          <a:prstGeom prst="roundRect">
            <a:avLst/>
          </a:prstGeom>
          <a:solidFill>
            <a:srgbClr val="149696"/>
          </a:solidFill>
          <a:ln>
            <a:solidFill>
              <a:srgbClr val="14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27848" y="4846320"/>
            <a:ext cx="1188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Reading 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4818888"/>
            <a:ext cx="1828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Time spent reading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510528"/>
            <a:ext cx="7772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46E7D"/>
                </a:solidFill>
                <a:latin typeface="Aptos"/>
              </a:rPr>
              <a:t>Dyslexia Detection Using Eye Movements  •  G-1534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6510528"/>
            <a:ext cx="12801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646E7D"/>
                </a:solidFill>
                <a:latin typeface="Aptos"/>
              </a:rPr>
              <a:t>Milestone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698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142037"/>
                </a:solidFill>
                <a:latin typeface="Aptos"/>
              </a:rPr>
              <a:t>DATASET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960120" cy="54864"/>
          </a:xfrm>
          <a:prstGeom prst="rect">
            <a:avLst/>
          </a:prstGeom>
          <a:solidFill>
            <a:srgbClr val="149696"/>
          </a:solidFill>
          <a:ln>
            <a:solidFill>
              <a:srgbClr val="14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646E7D"/>
                </a:solidFill>
                <a:latin typeface="Aptos"/>
              </a:rPr>
              <a:t>What is actually in our project dataset?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IN" sz="1400" b="1" dirty="0">
                <a:solidFill>
                  <a:srgbClr val="149696"/>
                </a:solidFill>
                <a:latin typeface="Aptos"/>
              </a:rPr>
              <a:t>04</a:t>
            </a:r>
            <a:endParaRPr sz="1400" b="1" dirty="0">
              <a:solidFill>
                <a:srgbClr val="149696"/>
              </a:solidFill>
              <a:latin typeface="Aptos"/>
            </a:endParaRPr>
          </a:p>
        </p:txBody>
      </p:sp>
      <p:pic>
        <p:nvPicPr>
          <p:cNvPr id="6" name="Picture 5" descr="dataset_snap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27152"/>
            <a:ext cx="5760720" cy="3291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675120" y="1417320"/>
            <a:ext cx="480060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675120" y="1417320"/>
            <a:ext cx="73152" cy="3291840"/>
          </a:xfrm>
          <a:prstGeom prst="rect">
            <a:avLst/>
          </a:prstGeom>
          <a:solidFill>
            <a:srgbClr val="149696"/>
          </a:solidFill>
          <a:ln>
            <a:solidFill>
              <a:srgbClr val="14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03720" y="1572768"/>
            <a:ext cx="4389120" cy="34747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000" b="1">
                <a:solidFill>
                  <a:srgbClr val="17253F"/>
                </a:solidFill>
                <a:latin typeface="Aptos"/>
              </a:rPr>
              <a:t>Dataset facts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1993392"/>
            <a:ext cx="4389120" cy="24231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32B3A"/>
                </a:solidFill>
                <a:latin typeface="Aptos"/>
              </a:defRPr>
            </a:pPr>
            <a:r>
              <a:rPr sz="1650" b="0">
                <a:solidFill>
                  <a:srgbClr val="17253F"/>
                </a:solidFill>
              </a:rPr>
              <a:t>• 294 participant-level records.</a:t>
            </a:r>
          </a:p>
          <a:p>
            <a:pPr>
              <a:spcAft>
                <a:spcPts val="900"/>
              </a:spcAft>
              <a:defRPr sz="2000">
                <a:solidFill>
                  <a:srgbClr val="232B3A"/>
                </a:solidFill>
                <a:latin typeface="Aptos"/>
              </a:defRPr>
            </a:pPr>
            <a:r>
              <a:rPr sz="1650" b="0">
                <a:solidFill>
                  <a:srgbClr val="17253F"/>
                </a:solidFill>
              </a:rPr>
              <a:t>• 12 numerical eye-movement measurements.</a:t>
            </a:r>
          </a:p>
          <a:p>
            <a:pPr>
              <a:spcAft>
                <a:spcPts val="900"/>
              </a:spcAft>
              <a:defRPr sz="2000">
                <a:solidFill>
                  <a:srgbClr val="232B3A"/>
                </a:solidFill>
                <a:latin typeface="Aptos"/>
              </a:defRPr>
            </a:pPr>
            <a:r>
              <a:rPr sz="1650" b="0">
                <a:solidFill>
                  <a:srgbClr val="17253F"/>
                </a:solidFill>
              </a:rPr>
              <a:t>• Target column: Dyslexic_label.</a:t>
            </a:r>
          </a:p>
          <a:p>
            <a:pPr>
              <a:spcAft>
                <a:spcPts val="900"/>
              </a:spcAft>
              <a:defRPr sz="2000">
                <a:solidFill>
                  <a:srgbClr val="232B3A"/>
                </a:solidFill>
                <a:latin typeface="Aptos"/>
              </a:defRPr>
            </a:pPr>
            <a:r>
              <a:rPr sz="1650" b="0">
                <a:solidFill>
                  <a:srgbClr val="17253F"/>
                </a:solidFill>
              </a:rPr>
              <a:t>• Class labels: norm and dyslexia.</a:t>
            </a:r>
          </a:p>
          <a:p>
            <a:pPr>
              <a:spcAft>
                <a:spcPts val="900"/>
              </a:spcAft>
              <a:defRPr sz="2000">
                <a:solidFill>
                  <a:srgbClr val="232B3A"/>
                </a:solidFill>
                <a:latin typeface="Aptos"/>
              </a:defRPr>
            </a:pPr>
            <a:r>
              <a:rPr sz="1650" b="0">
                <a:solidFill>
                  <a:srgbClr val="17253F"/>
                </a:solidFill>
              </a:rPr>
              <a:t>• Class distribution: 222 normal and 72 dyslexia.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" y="4842861"/>
            <a:ext cx="2565039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dirty="0">
                <a:solidFill>
                  <a:srgbClr val="142037"/>
                </a:solidFill>
                <a:latin typeface="Aptos"/>
              </a:rPr>
              <a:t>FEATURE GROUPS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440680"/>
            <a:ext cx="1581912" cy="365760"/>
          </a:xfrm>
          <a:prstGeom prst="roundRect">
            <a:avLst/>
          </a:prstGeom>
          <a:solidFill>
            <a:srgbClr val="E6EDF7"/>
          </a:solidFill>
          <a:ln>
            <a:solidFill>
              <a:srgbClr val="E6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8096" y="5477366"/>
            <a:ext cx="1508760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dirty="0">
                <a:solidFill>
                  <a:srgbClr val="2D68C4"/>
                </a:solidFill>
                <a:latin typeface="Aptos"/>
              </a:rPr>
              <a:t>Fixation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50591" y="5440680"/>
            <a:ext cx="1408176" cy="365760"/>
          </a:xfrm>
          <a:prstGeom prst="roundRect">
            <a:avLst/>
          </a:prstGeom>
          <a:solidFill>
            <a:srgbClr val="E6EDF7"/>
          </a:solidFill>
          <a:ln>
            <a:solidFill>
              <a:srgbClr val="E6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487168" y="5440680"/>
            <a:ext cx="133502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2D68C4"/>
                </a:solidFill>
                <a:latin typeface="Aptos"/>
              </a:rPr>
              <a:t>Reading time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6962" y="5461464"/>
            <a:ext cx="1467802" cy="365760"/>
          </a:xfrm>
          <a:prstGeom prst="roundRect">
            <a:avLst/>
          </a:prstGeom>
          <a:solidFill>
            <a:srgbClr val="E6EDF7"/>
          </a:solidFill>
          <a:ln>
            <a:solidFill>
              <a:srgbClr val="E6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38086" y="5501701"/>
            <a:ext cx="3305554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dirty="0">
                <a:solidFill>
                  <a:srgbClr val="2D68C4"/>
                </a:solidFill>
                <a:latin typeface="Aptos"/>
              </a:rPr>
              <a:t>Saccade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18788" y="5441663"/>
            <a:ext cx="2016252" cy="365760"/>
          </a:xfrm>
          <a:prstGeom prst="roundRect">
            <a:avLst/>
          </a:prstGeom>
          <a:solidFill>
            <a:srgbClr val="E6EDF7"/>
          </a:solidFill>
          <a:ln>
            <a:solidFill>
              <a:srgbClr val="E6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997548" y="5456056"/>
            <a:ext cx="19431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dirty="0">
                <a:solidFill>
                  <a:srgbClr val="2D68C4"/>
                </a:solidFill>
                <a:latin typeface="Aptos"/>
              </a:rPr>
              <a:t>Regression measures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46686" y="5477366"/>
            <a:ext cx="2119880" cy="397038"/>
          </a:xfrm>
          <a:prstGeom prst="roundRect">
            <a:avLst/>
          </a:prstGeom>
          <a:solidFill>
            <a:srgbClr val="E6EDF7"/>
          </a:solidFill>
          <a:ln>
            <a:solidFill>
              <a:srgbClr val="E6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54482" y="5529152"/>
            <a:ext cx="2304288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dirty="0">
                <a:solidFill>
                  <a:srgbClr val="2D68C4"/>
                </a:solidFill>
                <a:latin typeface="Aptos"/>
              </a:rPr>
              <a:t>Regression path duration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02300" y="5508644"/>
            <a:ext cx="1371600" cy="365760"/>
          </a:xfrm>
          <a:prstGeom prst="roundRect">
            <a:avLst/>
          </a:prstGeom>
          <a:solidFill>
            <a:srgbClr val="E6EDF7"/>
          </a:solidFill>
          <a:ln>
            <a:solidFill>
              <a:srgbClr val="E6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40112" y="5508644"/>
            <a:ext cx="12984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dirty="0">
                <a:solidFill>
                  <a:srgbClr val="2D68C4"/>
                </a:solidFill>
                <a:latin typeface="Aptos"/>
              </a:rPr>
              <a:t>Skip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510528"/>
            <a:ext cx="7772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46E7D"/>
                </a:solidFill>
                <a:latin typeface="Aptos"/>
              </a:rPr>
              <a:t>Dyslexia Detection Using Eye Movements  •  G-1534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6510528"/>
            <a:ext cx="12801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646E7D"/>
                </a:solidFill>
                <a:latin typeface="Aptos"/>
              </a:rPr>
              <a:t>Milestone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698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142037"/>
                </a:solidFill>
                <a:latin typeface="Aptos"/>
              </a:rPr>
              <a:t>PROJECT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960120" cy="54864"/>
          </a:xfrm>
          <a:prstGeom prst="rect">
            <a:avLst/>
          </a:prstGeom>
          <a:solidFill>
            <a:srgbClr val="149696"/>
          </a:solidFill>
          <a:ln>
            <a:solidFill>
              <a:srgbClr val="14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646E7D"/>
                </a:solidFill>
                <a:latin typeface="Aptos"/>
              </a:rPr>
              <a:t>What we will and will not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IN" sz="1400" b="1" dirty="0">
                <a:solidFill>
                  <a:srgbClr val="149696"/>
                </a:solidFill>
                <a:latin typeface="Aptos"/>
              </a:rPr>
              <a:t>05</a:t>
            </a:r>
            <a:endParaRPr sz="1400" b="1" dirty="0">
              <a:solidFill>
                <a:srgbClr val="149696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73152" cy="4480560"/>
          </a:xfrm>
          <a:prstGeom prst="rect">
            <a:avLst/>
          </a:prstGeom>
          <a:solidFill>
            <a:srgbClr val="2D68C4"/>
          </a:solidFill>
          <a:ln>
            <a:solidFill>
              <a:srgbClr val="2D6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55063"/>
            <a:ext cx="4983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142037"/>
                </a:solidFill>
                <a:latin typeface="Aptos"/>
              </a:rPr>
              <a:t>IN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4983480" cy="3657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32B3A"/>
                </a:solidFill>
                <a:latin typeface="Aptos"/>
              </a:defRPr>
            </a:pPr>
            <a:r>
              <a:rPr sz="1650" b="0">
                <a:solidFill>
                  <a:srgbClr val="17253F"/>
                </a:solidFill>
              </a:rPr>
              <a:t>• Use the provided participant-level eye-movement dataset.</a:t>
            </a:r>
          </a:p>
          <a:p>
            <a:pPr>
              <a:spcAft>
                <a:spcPts val="900"/>
              </a:spcAft>
              <a:defRPr sz="2000">
                <a:solidFill>
                  <a:srgbClr val="232B3A"/>
                </a:solidFill>
                <a:latin typeface="Aptos"/>
              </a:defRPr>
            </a:pPr>
            <a:r>
              <a:rPr sz="1650" b="0">
                <a:solidFill>
                  <a:srgbClr val="17253F"/>
                </a:solidFill>
              </a:rPr>
              <a:t>• Clean and validate numerical features.</a:t>
            </a:r>
          </a:p>
          <a:p>
            <a:pPr>
              <a:spcAft>
                <a:spcPts val="900"/>
              </a:spcAft>
              <a:defRPr sz="2000">
                <a:solidFill>
                  <a:srgbClr val="232B3A"/>
                </a:solidFill>
                <a:latin typeface="Aptos"/>
              </a:defRPr>
            </a:pPr>
            <a:r>
              <a:rPr sz="1650" b="0">
                <a:solidFill>
                  <a:srgbClr val="17253F"/>
                </a:solidFill>
              </a:rPr>
              <a:t>• Explore relationships between eye-movement measurements and the binary label.</a:t>
            </a:r>
          </a:p>
          <a:p>
            <a:pPr>
              <a:spcAft>
                <a:spcPts val="900"/>
              </a:spcAft>
              <a:defRPr sz="2000">
                <a:solidFill>
                  <a:srgbClr val="232B3A"/>
                </a:solidFill>
                <a:latin typeface="Aptos"/>
              </a:defRPr>
            </a:pPr>
            <a:r>
              <a:rPr sz="1650" b="0">
                <a:solidFill>
                  <a:srgbClr val="17253F"/>
                </a:solidFill>
              </a:rPr>
              <a:t>• Train and evaluate machine-learning classification models.</a:t>
            </a:r>
          </a:p>
          <a:p>
            <a:pPr>
              <a:spcAft>
                <a:spcPts val="900"/>
              </a:spcAft>
              <a:defRPr sz="2000">
                <a:solidFill>
                  <a:srgbClr val="232B3A"/>
                </a:solidFill>
                <a:latin typeface="Aptos"/>
              </a:defRPr>
            </a:pPr>
            <a:r>
              <a:rPr sz="1650" b="0">
                <a:solidFill>
                  <a:srgbClr val="17253F"/>
                </a:solidFill>
              </a:rPr>
              <a:t>• Develop a simple prediction workflow for project demonstration.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0876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36208" y="1709928"/>
            <a:ext cx="73152" cy="3893967"/>
          </a:xfrm>
          <a:prstGeom prst="rect">
            <a:avLst/>
          </a:prstGeom>
          <a:solidFill>
            <a:srgbClr val="149696"/>
          </a:solidFill>
          <a:ln>
            <a:solidFill>
              <a:srgbClr val="14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655063"/>
            <a:ext cx="4800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142037"/>
                </a:solidFill>
                <a:latin typeface="Aptos"/>
              </a:rPr>
              <a:t>OUT OF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57400"/>
            <a:ext cx="4800600" cy="3657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32B3A"/>
                </a:solidFill>
                <a:latin typeface="Aptos"/>
              </a:defRPr>
            </a:pPr>
            <a:r>
              <a:rPr sz="1650" b="0">
                <a:solidFill>
                  <a:srgbClr val="17253F"/>
                </a:solidFill>
              </a:rPr>
              <a:t>• Replacing a psychologist, clinician or formal dyslexia assessment.</a:t>
            </a:r>
          </a:p>
          <a:p>
            <a:pPr>
              <a:spcAft>
                <a:spcPts val="900"/>
              </a:spcAft>
              <a:defRPr sz="2000">
                <a:solidFill>
                  <a:srgbClr val="232B3A"/>
                </a:solidFill>
                <a:latin typeface="Aptos"/>
              </a:defRPr>
            </a:pPr>
            <a:r>
              <a:rPr sz="1650" b="0">
                <a:solidFill>
                  <a:srgbClr val="17253F"/>
                </a:solidFill>
              </a:rPr>
              <a:t>• Providing medical treatment or therapy.</a:t>
            </a:r>
          </a:p>
          <a:p>
            <a:pPr>
              <a:spcAft>
                <a:spcPts val="900"/>
              </a:spcAft>
              <a:defRPr sz="2000">
                <a:solidFill>
                  <a:srgbClr val="232B3A"/>
                </a:solidFill>
                <a:latin typeface="Aptos"/>
              </a:defRPr>
            </a:pPr>
            <a:r>
              <a:rPr sz="1650" b="0">
                <a:solidFill>
                  <a:srgbClr val="17253F"/>
                </a:solidFill>
              </a:rPr>
              <a:t>• Claiming that eye movements alone prove dyslexia.</a:t>
            </a:r>
          </a:p>
          <a:p>
            <a:pPr>
              <a:spcAft>
                <a:spcPts val="900"/>
              </a:spcAft>
              <a:defRPr sz="2000">
                <a:solidFill>
                  <a:srgbClr val="232B3A"/>
                </a:solidFill>
                <a:latin typeface="Aptos"/>
              </a:defRPr>
            </a:pPr>
            <a:r>
              <a:rPr sz="1650" b="0">
                <a:solidFill>
                  <a:srgbClr val="17253F"/>
                </a:solidFill>
              </a:rPr>
              <a:t>• Using the prototype as a clinical diagnostic device.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510528"/>
            <a:ext cx="7772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46E7D"/>
                </a:solidFill>
                <a:latin typeface="Aptos"/>
              </a:rPr>
              <a:t>Dyslexia Detection Using Eye Movements  •  G-1534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510528"/>
            <a:ext cx="12801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646E7D"/>
                </a:solidFill>
                <a:latin typeface="Aptos"/>
              </a:rPr>
              <a:t>Milestone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698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142037"/>
                </a:solidFill>
                <a:latin typeface="Aptos"/>
              </a:rPr>
              <a:t>OUR PROPOSED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960120" cy="54864"/>
          </a:xfrm>
          <a:prstGeom prst="rect">
            <a:avLst/>
          </a:prstGeom>
          <a:solidFill>
            <a:srgbClr val="149696"/>
          </a:solidFill>
          <a:ln>
            <a:solidFill>
              <a:srgbClr val="14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149696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3212" y="2240280"/>
            <a:ext cx="2627299" cy="3142095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0664" y="2478024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64B55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" y="2916865"/>
            <a:ext cx="23346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91C23"/>
                </a:solidFill>
              </a:defRPr>
            </a:pPr>
            <a:r>
              <a:rPr sz="2000" dirty="0"/>
              <a:t>DATA PREPARATION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5" y="3390632"/>
            <a:ext cx="233469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050">
                <a:solidFill>
                  <a:srgbClr val="50545E"/>
                </a:solidFill>
              </a:defRPr>
            </a:pPr>
            <a:r>
              <a:rPr sz="2000" dirty="0"/>
              <a:t>Clean and validate participant-level eye-movement data and handle missing values</a:t>
            </a:r>
            <a:r>
              <a:rPr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6251" y="2240281"/>
            <a:ext cx="2627299" cy="3142094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32555" y="2478024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64B55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2555" y="2926080"/>
            <a:ext cx="23346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91C23"/>
                </a:solidFill>
              </a:defRPr>
            </a:pPr>
            <a:r>
              <a:rPr sz="2000" dirty="0"/>
              <a:t>FEATURE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2555" y="3366519"/>
            <a:ext cx="233469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050">
                <a:solidFill>
                  <a:srgbClr val="50545E"/>
                </a:solidFill>
              </a:defRPr>
            </a:pPr>
            <a:r>
              <a:rPr sz="2000" dirty="0"/>
              <a:t>Use the 12 numerical eye-movement measurements to capture reading behavior</a:t>
            </a:r>
            <a:r>
              <a:rPr dirty="0"/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8143" y="2240281"/>
            <a:ext cx="2627299" cy="3142093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24447" y="2478024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64B55"/>
                </a:solidFill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447" y="2926080"/>
            <a:ext cx="23346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91C23"/>
                </a:solidFill>
              </a:defRPr>
            </a:pPr>
            <a:r>
              <a:rPr sz="2000" dirty="0"/>
              <a:t>ML CLASSIFICATION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6" y="3390632"/>
            <a:ext cx="233469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050">
                <a:solidFill>
                  <a:srgbClr val="50545E"/>
                </a:solidFill>
              </a:defRPr>
            </a:pPr>
            <a:r>
              <a:rPr sz="2000" dirty="0"/>
              <a:t>Train classification models to learn patterns separating Normal and Dyslexia groups.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70035" y="2240281"/>
            <a:ext cx="2627299" cy="3142094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16339" y="2478024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64B55"/>
                </a:solidFill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16339" y="2926080"/>
            <a:ext cx="23346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91C23"/>
                </a:solidFill>
              </a:defRPr>
            </a:pPr>
            <a:r>
              <a:rPr sz="2000" dirty="0"/>
              <a:t>PREDICTION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16338" y="3390632"/>
            <a:ext cx="233469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050">
                <a:solidFill>
                  <a:srgbClr val="50545E"/>
                </a:solidFill>
              </a:defRPr>
            </a:pPr>
            <a:r>
              <a:rPr sz="2000" dirty="0"/>
              <a:t>Generate a screening-oriented Normal / Dyslexia prediction for each participant.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4721" y="5856142"/>
            <a:ext cx="10835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D3038"/>
                </a:solidFill>
              </a:defRPr>
            </a:pPr>
            <a:r>
              <a:rPr dirty="0"/>
              <a:t>Raw eye-movement measurements → validated features → ML classification → screening-oriented prediction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70E0F3D-4FF9-8529-EC25-4D3D2AEE6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70946" cy="68580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08C5DA5F-44A3-72DF-66A4-D83A3B6F70FD}"/>
              </a:ext>
            </a:extLst>
          </p:cNvPr>
          <p:cNvSpPr txBox="1"/>
          <p:nvPr/>
        </p:nvSpPr>
        <p:spPr>
          <a:xfrm>
            <a:off x="10472634" y="492064"/>
            <a:ext cx="6577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rgbClr val="0070C0"/>
                </a:solidFill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698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142037"/>
                </a:solidFill>
                <a:latin typeface="Aptos"/>
              </a:rPr>
              <a:t>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960120" cy="54864"/>
          </a:xfrm>
          <a:prstGeom prst="rect">
            <a:avLst/>
          </a:prstGeom>
          <a:solidFill>
            <a:srgbClr val="149696"/>
          </a:solidFill>
          <a:ln>
            <a:solidFill>
              <a:srgbClr val="14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245882"/>
            <a:ext cx="41148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 dirty="0">
                <a:solidFill>
                  <a:srgbClr val="149696"/>
                </a:solidFill>
                <a:latin typeface="Aptos"/>
              </a:rPr>
              <a:t>0</a:t>
            </a:r>
            <a:r>
              <a:rPr lang="en-IN" sz="1400" b="1" dirty="0">
                <a:solidFill>
                  <a:srgbClr val="149696"/>
                </a:solidFill>
                <a:latin typeface="Aptos"/>
              </a:rPr>
              <a:t>7</a:t>
            </a:r>
          </a:p>
          <a:p>
            <a:pPr algn="r"/>
            <a:endParaRPr sz="1400" b="1" dirty="0">
              <a:solidFill>
                <a:srgbClr val="149696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1463040"/>
            <a:ext cx="27432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E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D68C4"/>
                </a:solidFill>
                <a:latin typeface="Aptos"/>
              </a:rPr>
              <a:t>FIXATIONS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29968"/>
            <a:ext cx="2377440" cy="8229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350" b="0">
                <a:solidFill>
                  <a:srgbClr val="17253F"/>
                </a:solidFill>
                <a:latin typeface="Aptos"/>
              </a:rPr>
              <a:t>FIXATION_COUNT</a:t>
            </a:r>
            <a:br/>
            <a:r>
              <a:rPr sz="1350" b="0">
                <a:solidFill>
                  <a:srgbClr val="17253F"/>
                </a:solidFill>
                <a:latin typeface="Aptos"/>
              </a:rPr>
              <a:t>FIXATION_DURATION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1463040"/>
            <a:ext cx="27432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E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51960" y="1600200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D68C4"/>
                </a:solidFill>
                <a:latin typeface="Aptos"/>
              </a:rPr>
              <a:t>READING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2029968"/>
            <a:ext cx="2377440" cy="8229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350" b="0">
                <a:solidFill>
                  <a:srgbClr val="17253F"/>
                </a:solidFill>
                <a:latin typeface="Aptos"/>
              </a:rPr>
              <a:t>TOTAL_READING_TIME</a:t>
            </a:r>
            <a:br/>
            <a:r>
              <a:rPr sz="1350" b="0">
                <a:solidFill>
                  <a:srgbClr val="17253F"/>
                </a:solidFill>
                <a:latin typeface="Aptos"/>
              </a:rPr>
              <a:t>RUN_TOTAL_READING_TIME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1463040"/>
            <a:ext cx="27432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E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35240" y="1600200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D68C4"/>
                </a:solidFill>
                <a:latin typeface="Aptos"/>
              </a:rPr>
              <a:t>GAZE POSITION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2029968"/>
            <a:ext cx="2377440" cy="8229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350" b="0">
                <a:solidFill>
                  <a:srgbClr val="17253F"/>
                </a:solidFill>
                <a:latin typeface="Aptos"/>
              </a:rPr>
              <a:t>FIXATION_X</a:t>
            </a:r>
            <a:br/>
            <a:r>
              <a:rPr sz="1350" b="0">
                <a:solidFill>
                  <a:srgbClr val="17253F"/>
                </a:solidFill>
                <a:latin typeface="Aptos"/>
              </a:rPr>
              <a:t>FIXATION_Y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657600"/>
            <a:ext cx="27432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E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794760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D68C4"/>
                </a:solidFill>
                <a:latin typeface="Aptos"/>
              </a:rPr>
              <a:t>SACCADE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224528"/>
            <a:ext cx="2377440" cy="8229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350" b="0">
                <a:solidFill>
                  <a:srgbClr val="17253F"/>
                </a:solidFill>
                <a:latin typeface="Aptos"/>
              </a:rPr>
              <a:t>SACCADE_AMPLITUDE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69080" y="3657600"/>
            <a:ext cx="27432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E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51960" y="3794760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D68C4"/>
                </a:solidFill>
                <a:latin typeface="Aptos"/>
              </a:rPr>
              <a:t>REGRESSIONS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4224528"/>
            <a:ext cx="2377440" cy="8229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350" b="0">
                <a:solidFill>
                  <a:srgbClr val="17253F"/>
                </a:solidFill>
                <a:latin typeface="Aptos"/>
              </a:rPr>
              <a:t>REGRESSION_IN</a:t>
            </a:r>
            <a:br/>
            <a:r>
              <a:rPr sz="1350" b="0">
                <a:solidFill>
                  <a:srgbClr val="17253F"/>
                </a:solidFill>
                <a:latin typeface="Aptos"/>
              </a:rPr>
              <a:t>REGRESSION_OUT</a:t>
            </a:r>
            <a:br/>
            <a:r>
              <a:rPr sz="1350" b="0">
                <a:solidFill>
                  <a:srgbClr val="17253F"/>
                </a:solidFill>
                <a:latin typeface="Aptos"/>
              </a:rPr>
              <a:t>REGRESSION_OUT_FULL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3657600"/>
            <a:ext cx="27432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E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35240" y="3794760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D68C4"/>
                </a:solidFill>
                <a:latin typeface="Aptos"/>
              </a:rPr>
              <a:t>PATH / SKIP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4224528"/>
            <a:ext cx="2377440" cy="8229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350" b="0">
                <a:solidFill>
                  <a:srgbClr val="17253F"/>
                </a:solidFill>
                <a:latin typeface="Aptos"/>
              </a:rPr>
              <a:t>REGRESSION_PATH_DURATION</a:t>
            </a:r>
            <a:br/>
            <a:r>
              <a:rPr sz="1350" b="0">
                <a:solidFill>
                  <a:srgbClr val="17253F"/>
                </a:solidFill>
                <a:latin typeface="Aptos"/>
              </a:rPr>
              <a:t>SKIP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510528"/>
            <a:ext cx="7772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46E7D"/>
                </a:solidFill>
                <a:latin typeface="Aptos"/>
              </a:rPr>
              <a:t>Dyslexia Detection Using Eye Movements  •  G-1534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6510528"/>
            <a:ext cx="12801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646E7D"/>
                </a:solidFill>
                <a:latin typeface="Aptos"/>
              </a:rPr>
              <a:t>Milestone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91440"/>
            <a:ext cx="10698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 dirty="0">
                <a:solidFill>
                  <a:srgbClr val="142037"/>
                </a:solidFill>
                <a:latin typeface="Aptos"/>
              </a:rP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960120" cy="54864"/>
          </a:xfrm>
          <a:prstGeom prst="rect">
            <a:avLst/>
          </a:prstGeom>
          <a:solidFill>
            <a:srgbClr val="149696"/>
          </a:solidFill>
          <a:ln>
            <a:solidFill>
              <a:srgbClr val="14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245882"/>
            <a:ext cx="41148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IN" sz="1400" b="1" dirty="0">
                <a:solidFill>
                  <a:srgbClr val="149696"/>
                </a:solidFill>
                <a:latin typeface="Aptos"/>
              </a:rPr>
              <a:t>08</a:t>
            </a:r>
          </a:p>
          <a:p>
            <a:pPr algn="r"/>
            <a:endParaRPr sz="1400" b="1" dirty="0">
              <a:solidFill>
                <a:srgbClr val="149696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40080" y="6510528"/>
            <a:ext cx="7772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46E7D"/>
                </a:solidFill>
                <a:latin typeface="Aptos"/>
              </a:rPr>
              <a:t>Dyslexia Detection Using Eye Movements  •  G-1534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6510528"/>
            <a:ext cx="12801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646E7D"/>
                </a:solidFill>
                <a:latin typeface="Aptos"/>
              </a:rPr>
              <a:t>Milestone 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7C37A1-B6A0-64D3-EDF3-21E16DF57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640080"/>
            <a:ext cx="12185522" cy="621791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40418"/>
            <a:ext cx="1069848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IN" sz="4000" b="1" dirty="0">
                <a:solidFill>
                  <a:srgbClr val="142037"/>
                </a:solidFill>
                <a:latin typeface="Aptos"/>
              </a:rPr>
              <a:t>Conclusion</a:t>
            </a:r>
            <a:endParaRPr sz="4000" b="1" dirty="0">
              <a:solidFill>
                <a:srgbClr val="142037"/>
              </a:solidFill>
              <a:latin typeface="Apto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960120" cy="54864"/>
          </a:xfrm>
          <a:prstGeom prst="rect">
            <a:avLst/>
          </a:prstGeom>
          <a:solidFill>
            <a:srgbClr val="149696"/>
          </a:solidFill>
          <a:ln>
            <a:solidFill>
              <a:srgbClr val="14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149696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00480"/>
            <a:ext cx="5100831" cy="5267918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576066" y="1457462"/>
            <a:ext cx="45719" cy="5053066"/>
          </a:xfrm>
          <a:prstGeom prst="rect">
            <a:avLst/>
          </a:prstGeom>
          <a:solidFill>
            <a:srgbClr val="2D68C4"/>
          </a:solidFill>
          <a:ln>
            <a:solidFill>
              <a:srgbClr val="2D6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13932" y="1632932"/>
            <a:ext cx="52120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91072" y="1682299"/>
            <a:ext cx="45719" cy="1975301"/>
          </a:xfrm>
          <a:prstGeom prst="rect">
            <a:avLst/>
          </a:prstGeom>
          <a:solidFill>
            <a:srgbClr val="2D68C4"/>
          </a:solidFill>
          <a:ln>
            <a:solidFill>
              <a:srgbClr val="2D6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19672" y="1649576"/>
            <a:ext cx="4800600" cy="504754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800" b="1" dirty="0">
                <a:solidFill>
                  <a:srgbClr val="1725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Next milestone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245580"/>
            <a:ext cx="4800600" cy="1466555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32B3A"/>
                </a:solidFill>
                <a:latin typeface="Aptos"/>
              </a:defRPr>
            </a:pPr>
            <a:r>
              <a:rPr sz="2000" b="0" dirty="0">
                <a:solidFill>
                  <a:srgbClr val="17253F"/>
                </a:solidFill>
              </a:rPr>
              <a:t>•  </a:t>
            </a:r>
            <a:r>
              <a:rPr sz="2000" b="0" dirty="0">
                <a:solidFill>
                  <a:srgbClr val="17253F"/>
                </a:solidFill>
                <a:latin typeface="Aptos" panose="020B0004020202020204" pitchFamily="34" charset="0"/>
              </a:rPr>
              <a:t>Demonstrate the complete workflow.</a:t>
            </a:r>
            <a:endParaRPr lang="en-IN" sz="2000" b="0" dirty="0">
              <a:solidFill>
                <a:srgbClr val="17253F"/>
              </a:solidFill>
              <a:latin typeface="Aptos" panose="020B0004020202020204" pitchFamily="34" charset="0"/>
            </a:endParaRPr>
          </a:p>
          <a:p>
            <a:pPr>
              <a:spcAft>
                <a:spcPts val="900"/>
              </a:spcAft>
              <a:defRPr sz="2000">
                <a:solidFill>
                  <a:srgbClr val="232B3A"/>
                </a:solidFill>
                <a:latin typeface="Aptos"/>
              </a:defRPr>
            </a:pPr>
            <a:r>
              <a:rPr lang="en-IN" sz="2000" dirty="0">
                <a:solidFill>
                  <a:srgbClr val="17253F"/>
                </a:solidFill>
                <a:latin typeface="Aptos" panose="020B0004020202020204" pitchFamily="34" charset="0"/>
              </a:rPr>
              <a:t> </a:t>
            </a:r>
            <a:r>
              <a:rPr lang="en-IN" sz="2000" dirty="0"/>
              <a:t>•</a:t>
            </a:r>
            <a:r>
              <a:rPr lang="en-IN" sz="2000" dirty="0">
                <a:solidFill>
                  <a:srgbClr val="17253F"/>
                </a:solidFill>
                <a:latin typeface="Aptos" panose="020B0004020202020204" pitchFamily="34" charset="0"/>
              </a:rPr>
              <a:t>  Model comparison with the state-of-the-art models.</a:t>
            </a:r>
          </a:p>
          <a:p>
            <a:pPr>
              <a:spcAft>
                <a:spcPts val="900"/>
              </a:spcAft>
              <a:defRPr sz="2000">
                <a:solidFill>
                  <a:srgbClr val="232B3A"/>
                </a:solidFill>
                <a:latin typeface="Aptos"/>
              </a:defRPr>
            </a:pPr>
            <a:endParaRPr sz="1550" b="0" dirty="0">
              <a:solidFill>
                <a:srgbClr val="17253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241280" y="6510528"/>
            <a:ext cx="12801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646E7D"/>
                </a:solidFill>
                <a:latin typeface="Aptos"/>
              </a:rPr>
              <a:t>Milestone 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F7C648-1B50-52D5-4D66-BE190DAF331C}"/>
              </a:ext>
            </a:extLst>
          </p:cNvPr>
          <p:cNvSpPr txBox="1"/>
          <p:nvPr/>
        </p:nvSpPr>
        <p:spPr>
          <a:xfrm>
            <a:off x="990600" y="1462542"/>
            <a:ext cx="4618229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1" dirty="0">
              <a:latin typeface="Arial Rounded MT Bold" panose="020F0704030504030204" pitchFamily="34" charset="0"/>
            </a:endParaRPr>
          </a:p>
          <a:p>
            <a:endParaRPr lang="en-IN" b="1" dirty="0">
              <a:latin typeface="Arial Rounded MT Bold" panose="020F0704030504030204" pitchFamily="34" charset="0"/>
            </a:endParaRPr>
          </a:p>
          <a:p>
            <a:pPr lvl="0"/>
            <a:r>
              <a:rPr lang="en-IN" dirty="0"/>
              <a:t>•  </a:t>
            </a:r>
            <a:r>
              <a:rPr lang="en-IN" sz="2000" dirty="0">
                <a:latin typeface="Aptos" panose="020B0004020202020204" pitchFamily="34" charset="0"/>
              </a:rPr>
              <a:t>Understood the Neuro domain and problem statement. </a:t>
            </a:r>
          </a:p>
          <a:p>
            <a:pPr lvl="0"/>
            <a:endParaRPr lang="en-IN" sz="2000" dirty="0">
              <a:latin typeface="Aptos" panose="020B0004020202020204" pitchFamily="34" charset="0"/>
            </a:endParaRPr>
          </a:p>
          <a:p>
            <a:pPr lvl="0"/>
            <a:r>
              <a:rPr lang="en-IN" sz="2000" dirty="0"/>
              <a:t>•</a:t>
            </a:r>
            <a:r>
              <a:rPr lang="en-IN" sz="2000" dirty="0">
                <a:latin typeface="Aptos" panose="020B0004020202020204" pitchFamily="34" charset="0"/>
              </a:rPr>
              <a:t>  Studied the base research paper and its approach. </a:t>
            </a:r>
          </a:p>
          <a:p>
            <a:pPr lvl="0"/>
            <a:r>
              <a:rPr lang="en-IN" sz="2000" dirty="0">
                <a:latin typeface="Aptos" panose="020B0004020202020204" pitchFamily="34" charset="0"/>
              </a:rPr>
              <a:t>  </a:t>
            </a:r>
          </a:p>
          <a:p>
            <a:pPr lvl="0"/>
            <a:r>
              <a:rPr lang="en-IN" sz="2000" dirty="0"/>
              <a:t>•</a:t>
            </a:r>
            <a:r>
              <a:rPr lang="en-IN" sz="2000" dirty="0">
                <a:latin typeface="Aptos" panose="020B0004020202020204" pitchFamily="34" charset="0"/>
              </a:rPr>
              <a:t>  Identified the dataset and performed dataset analysis and preprocessing. </a:t>
            </a:r>
          </a:p>
          <a:p>
            <a:pPr lvl="0"/>
            <a:endParaRPr lang="en-IN" sz="2000" dirty="0">
              <a:latin typeface="Aptos" panose="020B0004020202020204" pitchFamily="34" charset="0"/>
            </a:endParaRPr>
          </a:p>
          <a:p>
            <a:pPr lvl="0"/>
            <a:r>
              <a:rPr lang="en-IN" sz="2000" dirty="0"/>
              <a:t>•</a:t>
            </a:r>
            <a:r>
              <a:rPr lang="en-IN" sz="2000" dirty="0">
                <a:latin typeface="Aptos" panose="020B0004020202020204" pitchFamily="34" charset="0"/>
              </a:rPr>
              <a:t>  Trained the dyslexia classification model. </a:t>
            </a:r>
          </a:p>
          <a:p>
            <a:pPr lvl="0"/>
            <a:endParaRPr lang="en-IN" sz="2000" dirty="0">
              <a:latin typeface="Aptos" panose="020B0004020202020204" pitchFamily="34" charset="0"/>
            </a:endParaRPr>
          </a:p>
          <a:p>
            <a:pPr lvl="0"/>
            <a:r>
              <a:rPr lang="en-IN" sz="2000" dirty="0"/>
              <a:t>• </a:t>
            </a:r>
            <a:r>
              <a:rPr lang="en-IN" sz="2000" dirty="0">
                <a:latin typeface="Aptos" panose="020B0004020202020204" pitchFamily="34" charset="0"/>
              </a:rPr>
              <a:t>Implemented Random Forest + formula-based risk level estimation.</a:t>
            </a:r>
          </a:p>
          <a:p>
            <a:pPr lvl="0"/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4ECD09-9A36-3D49-4C87-19AB59C7F96C}"/>
              </a:ext>
            </a:extLst>
          </p:cNvPr>
          <p:cNvSpPr txBox="1"/>
          <p:nvPr/>
        </p:nvSpPr>
        <p:spPr>
          <a:xfrm>
            <a:off x="1101851" y="1371322"/>
            <a:ext cx="3647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Project Progress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88DA923-170F-7DA6-9364-538DDCEF7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39"/>
            <a:ext cx="12192000" cy="683072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E75884C-D4CA-CD8C-C0D3-70AA632EE9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2" y="0"/>
            <a:ext cx="121514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543</TotalTime>
  <Words>732</Words>
  <Application>Microsoft Office PowerPoint</Application>
  <PresentationFormat>Widescreen</PresentationFormat>
  <Paragraphs>138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Arial Rounded MT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VATHSALYA SINDHU KAIROJU</dc:creator>
  <cp:keywords/>
  <dc:description>generated using python-pptx</dc:description>
  <cp:lastModifiedBy>pavanteja gangadhari</cp:lastModifiedBy>
  <cp:revision>6</cp:revision>
  <dcterms:created xsi:type="dcterms:W3CDTF">2013-01-27T09:14:16Z</dcterms:created>
  <dcterms:modified xsi:type="dcterms:W3CDTF">2026-10-08T08:24:48Z</dcterms:modified>
  <cp:category/>
</cp:coreProperties>
</file>